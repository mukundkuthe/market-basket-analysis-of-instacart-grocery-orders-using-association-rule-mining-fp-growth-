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7bf2ad-11cd-7415-ec6e-982927d9a6c9}">
          <p14:sldIdLst>
            <p14:sldId id="256"/>
            <p14:sldId id="257"/>
            <p14:sldId id="258"/>
          </p14:sldIdLst>
        </p14:section>
        <p14:section name="Data" id="{2102debf-adc2-55ac-b1b5-a6e22ad4bc97}">
          <p14:sldIdLst>
            <p14:sldId id="259"/>
            <p14:sldId id="260"/>
          </p14:sldIdLst>
        </p14:section>
        <p14:section name="Modelling" id="{811cb2cb-aefa-a20f-931e-3417d280c6f1}">
          <p14:sldIdLst>
            <p14:sldId id="261"/>
            <p14:sldId id="262"/>
            <p14:sldId id="263"/>
          </p14:sldIdLst>
        </p14:section>
        <p14:section name="Results" id="{cd9138e8-2484-ca70-8b62-20f9eb53f853}">
          <p14:sldIdLst>
            <p14:sldId id="264"/>
            <p14:sldId id="265"/>
          </p14:sldIdLst>
        </p14:section>
        <p14:section name="Conclusion" id="{bd50bccf-95e5-c1ca-5c65-e4ff35b1774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2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24"/>
                </a:solidFill>
                <a:latin typeface="+mn-lt"/>
              </a:rPr>
              <a:t>Top 15 products: share of baskets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baskets (%)</c:v>
                </c:pt>
              </c:strCache>
            </c:strRef>
          </c:tx>
          <c:spPr>
            <a:solidFill>
              <a:srgbClr val="1F5C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Organic Blueberries</c:v>
                  </c:pt>
                  <c:pt idx="1">
                    <c:v>Organic Zucchini</c:v>
                  </c:pt>
                  <c:pt idx="2">
                    <c:v>Organic Garlic</c:v>
                  </c:pt>
                  <c:pt idx="3">
                    <c:v>Organic Yellow Onion</c:v>
                  </c:pt>
                  <c:pt idx="4">
                    <c:v>Organic Whole Milk</c:v>
                  </c:pt>
                  <c:pt idx="5">
                    <c:v>Organic Raspberries</c:v>
                  </c:pt>
                  <c:pt idx="6">
                    <c:v>Limes</c:v>
                  </c:pt>
                  <c:pt idx="7">
                    <c:v>Strawberries</c:v>
                  </c:pt>
                  <c:pt idx="8">
                    <c:v>Large Lemon</c:v>
                  </c:pt>
                  <c:pt idx="9">
                    <c:v>Organic Avocado</c:v>
                  </c:pt>
                  <c:pt idx="10">
                    <c:v>Organic Hass Avocado</c:v>
                  </c:pt>
                  <c:pt idx="11">
                    <c:v>Organic Baby Spinach</c:v>
                  </c:pt>
                  <c:pt idx="12">
                    <c:v>Organic Strawberries</c:v>
                  </c:pt>
                  <c:pt idx="13">
                    <c:v>Bag of Organic Bananas</c:v>
                  </c:pt>
                  <c:pt idx="14">
                    <c:v>Banana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3.96</c:v>
                </c:pt>
                <c:pt idx="1">
                  <c:v>4.12</c:v>
                </c:pt>
                <c:pt idx="2">
                  <c:v>4.26</c:v>
                </c:pt>
                <c:pt idx="3">
                  <c:v>4.33</c:v>
                </c:pt>
                <c:pt idx="4">
                  <c:v>5.3</c:v>
                </c:pt>
                <c:pt idx="5">
                  <c:v>5.37</c:v>
                </c:pt>
                <c:pt idx="6">
                  <c:v>5.44</c:v>
                </c:pt>
                <c:pt idx="7">
                  <c:v>5.59</c:v>
                </c:pt>
                <c:pt idx="8">
                  <c:v>5.98</c:v>
                </c:pt>
                <c:pt idx="9">
                  <c:v>6.82</c:v>
                </c:pt>
                <c:pt idx="10">
                  <c:v>8.33</c:v>
                </c:pt>
                <c:pt idx="11">
                  <c:v>9.52</c:v>
                </c:pt>
                <c:pt idx="12">
                  <c:v>10.43</c:v>
                </c:pt>
                <c:pt idx="13">
                  <c:v>15.08</c:v>
                </c:pt>
                <c:pt idx="14">
                  <c:v>18.68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B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Market Basket Analysis of Instacart grocery orders using FP-Growth for the Predictive Analytics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Retailers like Instacart handle millions of baskets. Without a systematic method they rely on intuition for placement, bundles and promotions. The challenge is mining reliable rules efficiently from very sparse, high-dimensional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files from the Kaggle Instacart dataset: the order-product transactions (prior orders) and the product catalogue. Each order is a basket.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Bananas are in almost one in five baskets. Nearly all of the top 15 items are fresh produce. Most products are rare, which makes the data sparse.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Sampling and filtering keep the problem tractable. After filtering, 72,283 baskets and 200 products remain, stored as a sparse boolean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unsupervised, pattern-discovery task. FP-Growth finds frequent itemsets efficiently; rules are scored with support, confidence and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sparse matrix keeps memory small. Parameters: 100,000 sampled orders, top 200 products, minimum support 1%, minimum lift 1.5, random seed 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target variable, so evaluation uses rule-quality metrics. 161 itemsets, 28 rules. The scatter plot shows support against confidence for all 28 rules, coloured by lift; the two yellow points are the Limes and Large Lemon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sorted by lift. Limes and Large Lemon have the highest lift at 3.27. Apple rules toward Banana have the highest confidence, about 35 to 37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Lift is the key lens: it corrects for how popular an item is. Use the rules for bundles, shelf and app placement, recommendations and promotions.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efficient pipeline, 28 actionable rules, strongest pairs in fresh produce. Next steps: scale up the sample and product list, and validate with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160020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Market Basket Analysis of Instacart Orders  |  FP-Growth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Market Basket Analysis of Instacart Orders  |  FP-Growth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titute"/>
          <p:cNvSpPr txBox="1"/>
          <p:nvPr/>
        </p:nvSpPr>
        <p:spPr>
          <a:xfrm>
            <a:off x="457200" y="365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SYMBIOSIS INSTITUTE OF TECHNOLOGY, NAGPUR.</a:t>
            </a:r>
            <a:endParaRPr lang="en-US" sz="2000" dirty="0"/>
          </a:p>
        </p:txBody>
      </p:sp>
      <p:sp>
        <p:nvSpPr>
          <p:cNvPr id="3" name="Subject"/>
          <p:cNvSpPr txBox="1"/>
          <p:nvPr/>
        </p:nvSpPr>
        <p:spPr>
          <a:xfrm>
            <a:off x="45720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PREDICTIVE ANALYTICS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16002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Market Basket Analysis of Instacart Grocery Orders Using Association Rule Mining (FP-Growth)</a:t>
            </a:r>
            <a:endParaRPr lang="en-US" sz="2400" dirty="0"/>
          </a:p>
        </p:txBody>
      </p:sp>
      <p:sp>
        <p:nvSpPr>
          <p:cNvPr id="5" name="Programme"/>
          <p:cNvSpPr txBox="1"/>
          <p:nvPr/>
        </p:nvSpPr>
        <p:spPr>
          <a:xfrm>
            <a:off x="457200" y="3246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COMPUTER SCIENCE AND ENGINEERING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BATCH 2023-27   |   SEMESTER 7   |   SECTION B</a:t>
            </a:r>
            <a:endParaRPr lang="en-US" sz="1400" dirty="0"/>
          </a:p>
        </p:txBody>
      </p:sp>
      <p:sp>
        <p:nvSpPr>
          <p:cNvPr id="6" name="Student"/>
          <p:cNvSpPr txBox="1"/>
          <p:nvPr/>
        </p:nvSpPr>
        <p:spPr>
          <a:xfrm>
            <a:off x="457200" y="4023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NAME: MUKUND KUTHE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PRN: 23070521082</a:t>
            </a:r>
            <a:endParaRPr lang="en-US" sz="1600" dirty="0"/>
          </a:p>
        </p:txBody>
      </p:sp>
      <p:sp>
        <p:nvSpPr>
          <p:cNvPr id="7" name="Logo card"/>
          <p:cNvSpPr/>
          <p:nvPr/>
        </p:nvSpPr>
        <p:spPr>
          <a:xfrm>
            <a:off x="6309360" y="1005840"/>
            <a:ext cx="2468880" cy="310896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B2B24">
                <a:alpha val="15000"/>
              </a:srgbClr>
            </a:outerShdw>
          </a:effectLst>
        </p:spPr>
      </p:sp>
      <p:pic>
        <p:nvPicPr>
          <p:cNvPr id="8" name="SIT logo" descr="Symbiosis Institute of Technolog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80160"/>
            <a:ext cx="1828800" cy="2150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icon bg 1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a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6" name="Stat value 1"/>
          <p:cNvSpPr txBox="1"/>
          <p:nvPr/>
        </p:nvSpPr>
        <p:spPr>
          <a:xfrm>
            <a:off x="132588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~3.2M</a:t>
            </a:r>
            <a:endParaRPr lang="en-US" sz="2800" dirty="0"/>
          </a:p>
        </p:txBody>
      </p:sp>
      <p:sp>
        <p:nvSpPr>
          <p:cNvPr id="7" name="Stat label 1"/>
          <p:cNvSpPr txBox="1"/>
          <p:nvPr/>
        </p:nvSpPr>
        <p:spPr>
          <a:xfrm>
            <a:off x="132588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orders in the full dataset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3291840" y="118872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icon bg 2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a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45920"/>
            <a:ext cx="274320" cy="274320"/>
          </a:xfrm>
          <a:prstGeom prst="rect">
            <a:avLst/>
          </a:prstGeom>
        </p:spPr>
      </p:pic>
      <p:sp>
        <p:nvSpPr>
          <p:cNvPr id="11" name="Stat value 2"/>
          <p:cNvSpPr txBox="1"/>
          <p:nvPr/>
        </p:nvSpPr>
        <p:spPr>
          <a:xfrm>
            <a:off x="416052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~50K</a:t>
            </a:r>
            <a:endParaRPr lang="en-US" sz="2800" dirty="0"/>
          </a:p>
        </p:txBody>
      </p:sp>
      <p:sp>
        <p:nvSpPr>
          <p:cNvPr id="12" name="Stat label 2"/>
          <p:cNvSpPr txBox="1"/>
          <p:nvPr/>
        </p:nvSpPr>
        <p:spPr>
          <a:xfrm>
            <a:off x="416052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distinct products</a:t>
            </a:r>
            <a:endParaRPr lang="en-US" sz="1400" dirty="0"/>
          </a:p>
        </p:txBody>
      </p:sp>
      <p:sp>
        <p:nvSpPr>
          <p:cNvPr id="13" name="Stat card 3"/>
          <p:cNvSpPr/>
          <p:nvPr/>
        </p:nvSpPr>
        <p:spPr>
          <a:xfrm>
            <a:off x="6126480" y="118872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t icon bg 3"/>
          <p:cNvSpPr/>
          <p:nvPr/>
        </p:nvSpPr>
        <p:spPr>
          <a:xfrm>
            <a:off x="630936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a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45920"/>
            <a:ext cx="274320" cy="274320"/>
          </a:xfrm>
          <a:prstGeom prst="rect">
            <a:avLst/>
          </a:prstGeom>
        </p:spPr>
      </p:pic>
      <p:sp>
        <p:nvSpPr>
          <p:cNvPr id="16" name="Stat value 3"/>
          <p:cNvSpPr txBox="1"/>
          <p:nvPr/>
        </p:nvSpPr>
        <p:spPr>
          <a:xfrm>
            <a:off x="699516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→ Y</a:t>
            </a:r>
            <a:endParaRPr lang="en-US" sz="2800" dirty="0"/>
          </a:p>
        </p:txBody>
      </p:sp>
      <p:sp>
        <p:nvSpPr>
          <p:cNvPr id="17" name="Stat label 3"/>
          <p:cNvSpPr txBox="1"/>
          <p:nvPr/>
        </p:nvSpPr>
        <p:spPr>
          <a:xfrm>
            <a:off x="699516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“customers who buy X also buy Y”</a:t>
            </a:r>
            <a:endParaRPr lang="en-US" sz="1400" dirty="0"/>
          </a:p>
        </p:txBody>
      </p:sp>
      <p:sp>
        <p:nvSpPr>
          <p:cNvPr id="18" name="Text card 1"/>
          <p:cNvSpPr/>
          <p:nvPr/>
        </p:nvSpPr>
        <p:spPr>
          <a:xfrm>
            <a:off x="457200" y="2651760"/>
            <a:ext cx="40233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heading 1"/>
          <p:cNvSpPr txBox="1"/>
          <p:nvPr/>
        </p:nvSpPr>
        <p:spPr>
          <a:xfrm>
            <a:off x="6858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20" name="Card body 1"/>
          <p:cNvSpPr txBox="1"/>
          <p:nvPr/>
        </p:nvSpPr>
        <p:spPr>
          <a:xfrm>
            <a:off x="685800" y="31546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Buying patterns hide inside millions of baskets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Placement, bundles and promotions run on intuition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Outcome: missed cross-sell, less relevant recommendations</a:t>
            </a:r>
            <a:endParaRPr lang="en-US" sz="1400" dirty="0"/>
          </a:p>
        </p:txBody>
      </p:sp>
      <p:sp>
        <p:nvSpPr>
          <p:cNvPr id="21" name="Text card 2"/>
          <p:cNvSpPr/>
          <p:nvPr/>
        </p:nvSpPr>
        <p:spPr>
          <a:xfrm>
            <a:off x="4663440" y="2651760"/>
            <a:ext cx="40233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ard heading 2"/>
          <p:cNvSpPr txBox="1"/>
          <p:nvPr/>
        </p:nvSpPr>
        <p:spPr>
          <a:xfrm>
            <a:off x="489204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challenge</a:t>
            </a:r>
            <a:endParaRPr lang="en-US" sz="1800" dirty="0"/>
          </a:p>
        </p:txBody>
      </p:sp>
      <p:sp>
        <p:nvSpPr>
          <p:cNvPr id="23" name="Card body 2"/>
          <p:cNvSpPr txBox="1"/>
          <p:nvPr/>
        </p:nvSpPr>
        <p:spPr>
          <a:xfrm>
            <a:off x="4892040" y="315468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Find reliable “X → Y” rules in ~3.2M orders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Very sparse, high-dimensional data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Efficient mining that still gives actionable insight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Dataset</a:t>
            </a:r>
            <a:endParaRPr lang="en-US" sz="3400" dirty="0"/>
          </a:p>
        </p:txBody>
      </p:sp>
      <p:sp>
        <p:nvSpPr>
          <p:cNvPr id="3" name="File card 1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le icon bg 1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il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6" name="File text 1"/>
          <p:cNvSpPr txBox="1"/>
          <p:nvPr/>
        </p:nvSpPr>
        <p:spPr>
          <a:xfrm>
            <a:off x="1463040" y="1325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order_products__prior.csv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Columns: order_id, product_id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916,605 order-product rows loaded</a:t>
            </a:r>
            <a:endParaRPr lang="en-US" sz="1600" dirty="0"/>
          </a:p>
        </p:txBody>
      </p:sp>
      <p:sp>
        <p:nvSpPr>
          <p:cNvPr id="7" name="File card 2"/>
          <p:cNvSpPr/>
          <p:nvPr/>
        </p:nvSpPr>
        <p:spPr>
          <a:xfrm>
            <a:off x="457200" y="2743200"/>
            <a:ext cx="4114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le icon bg 2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il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10" name="File text 2"/>
          <p:cNvSpPr txBox="1"/>
          <p:nvPr/>
        </p:nvSpPr>
        <p:spPr>
          <a:xfrm>
            <a:off x="1463040" y="2880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products.csv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Columns: product_id, product_name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49,688 products in the catalogue</a:t>
            </a:r>
            <a:endParaRPr lang="en-US" sz="16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Source: Kaggle, Instacart Market Basket Analysis</a:t>
            </a:r>
            <a:endParaRPr lang="en-US" sz="1200" dirty="0"/>
          </a:p>
        </p:txBody>
      </p:sp>
      <p:sp>
        <p:nvSpPr>
          <p:cNvPr id="12" name="Table heading"/>
          <p:cNvSpPr txBox="1"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Sample transactions</a:t>
            </a:r>
            <a:endParaRPr lang="en-US" sz="1800" dirty="0"/>
          </a:p>
        </p:txBody>
      </p:sp>
      <p:graphicFrame>
        <p:nvGraphicFramePr>
          <p:cNvPr id="4" name="S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3749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order_id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product_id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33120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28985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9327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45918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30035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Basket note"/>
          <p:cNvSpPr/>
          <p:nvPr/>
        </p:nvSpPr>
        <p:spPr>
          <a:xfrm>
            <a:off x="4937760" y="3931920"/>
            <a:ext cx="37490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sket note text"/>
          <p:cNvSpPr txBox="1"/>
          <p:nvPr/>
        </p:nvSpPr>
        <p:spPr>
          <a:xfrm>
            <a:off x="5120640" y="3931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order = one basket; each product in it is an item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understanding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3949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 1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nsight value 1"/>
          <p:cNvSpPr txBox="1"/>
          <p:nvPr/>
        </p:nvSpPr>
        <p:spPr>
          <a:xfrm>
            <a:off x="6309360" y="12618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18.7%</a:t>
            </a:r>
            <a:endParaRPr lang="en-US" sz="2200" dirty="0"/>
          </a:p>
        </p:txBody>
      </p:sp>
      <p:sp>
        <p:nvSpPr>
          <p:cNvPr id="6" name="Insight label 1"/>
          <p:cNvSpPr txBox="1"/>
          <p:nvPr/>
        </p:nvSpPr>
        <p:spPr>
          <a:xfrm>
            <a:off x="6309360" y="1664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baskets contain Banana, the top item</a:t>
            </a:r>
            <a:endParaRPr lang="en-US" sz="1400" dirty="0"/>
          </a:p>
        </p:txBody>
      </p:sp>
      <p:sp>
        <p:nvSpPr>
          <p:cNvPr id="7" name="Insight card 2"/>
          <p:cNvSpPr/>
          <p:nvPr/>
        </p:nvSpPr>
        <p:spPr>
          <a:xfrm>
            <a:off x="612648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nsight value 2"/>
          <p:cNvSpPr txBox="1"/>
          <p:nvPr/>
        </p:nvSpPr>
        <p:spPr>
          <a:xfrm>
            <a:off x="6309360" y="24048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of 15</a:t>
            </a:r>
            <a:endParaRPr lang="en-US" sz="2200" dirty="0"/>
          </a:p>
        </p:txBody>
      </p:sp>
      <p:sp>
        <p:nvSpPr>
          <p:cNvPr id="9" name="Insight label 2"/>
          <p:cNvSpPr txBox="1"/>
          <p:nvPr/>
        </p:nvSpPr>
        <p:spPr>
          <a:xfrm>
            <a:off x="630936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products are fresh produce (milk is the exception)</a:t>
            </a:r>
            <a:endParaRPr lang="en-US" sz="1400" dirty="0"/>
          </a:p>
        </p:txBody>
      </p:sp>
      <p:sp>
        <p:nvSpPr>
          <p:cNvPr id="10" name="Insight card 3"/>
          <p:cNvSpPr/>
          <p:nvPr/>
        </p:nvSpPr>
        <p:spPr>
          <a:xfrm>
            <a:off x="6126480" y="3474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nsight value 3"/>
          <p:cNvSpPr txBox="1"/>
          <p:nvPr/>
        </p:nvSpPr>
        <p:spPr>
          <a:xfrm>
            <a:off x="6309360" y="35478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tail</a:t>
            </a:r>
            <a:endParaRPr lang="en-US" sz="2200" dirty="0"/>
          </a:p>
        </p:txBody>
      </p:sp>
      <p:sp>
        <p:nvSpPr>
          <p:cNvPr id="12" name="Insight label 3"/>
          <p:cNvSpPr txBox="1"/>
          <p:nvPr/>
        </p:nvSpPr>
        <p:spPr>
          <a:xfrm>
            <a:off x="6309360" y="3950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 products are rare, so the basket matrix is very sparse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preprocessing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192024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icon bg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Step title 1"/>
          <p:cNvSpPr txBox="1"/>
          <p:nvPr/>
        </p:nvSpPr>
        <p:spPr>
          <a:xfrm>
            <a:off x="64008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Sample</a:t>
            </a:r>
            <a:endParaRPr lang="en-US" sz="1800" dirty="0"/>
          </a:p>
        </p:txBody>
      </p:sp>
      <p:sp>
        <p:nvSpPr>
          <p:cNvPr id="7" name="Step text 1"/>
          <p:cNvSpPr txBox="1"/>
          <p:nvPr/>
        </p:nvSpPr>
        <p:spPr>
          <a:xfrm>
            <a:off x="640080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100,000 random orders (seed 42) keep memory manageable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2578608" y="1188720"/>
            <a:ext cx="192024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icon bg 2"/>
          <p:cNvSpPr/>
          <p:nvPr/>
        </p:nvSpPr>
        <p:spPr>
          <a:xfrm>
            <a:off x="2761488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e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508760"/>
            <a:ext cx="274320" cy="274320"/>
          </a:xfrm>
          <a:prstGeom prst="rect">
            <a:avLst/>
          </a:prstGeom>
        </p:spPr>
      </p:pic>
      <p:sp>
        <p:nvSpPr>
          <p:cNvPr id="11" name="Step title 2"/>
          <p:cNvSpPr txBox="1"/>
          <p:nvPr/>
        </p:nvSpPr>
        <p:spPr>
          <a:xfrm>
            <a:off x="2761488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Filter</a:t>
            </a:r>
            <a:endParaRPr lang="en-US" sz="1800" dirty="0"/>
          </a:p>
        </p:txBody>
      </p:sp>
      <p:sp>
        <p:nvSpPr>
          <p:cNvPr id="12" name="Step text 2"/>
          <p:cNvSpPr txBox="1"/>
          <p:nvPr/>
        </p:nvSpPr>
        <p:spPr>
          <a:xfrm>
            <a:off x="2761488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Top 200 most-bought products reduce sparsity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4700016" y="1188720"/>
            <a:ext cx="192024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icon bg 3"/>
          <p:cNvSpPr/>
          <p:nvPr/>
        </p:nvSpPr>
        <p:spPr>
          <a:xfrm>
            <a:off x="4882896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e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508760"/>
            <a:ext cx="274320" cy="274320"/>
          </a:xfrm>
          <a:prstGeom prst="rect">
            <a:avLst/>
          </a:prstGeom>
        </p:spPr>
      </p:pic>
      <p:sp>
        <p:nvSpPr>
          <p:cNvPr id="16" name="Step title 3"/>
          <p:cNvSpPr txBox="1"/>
          <p:nvPr/>
        </p:nvSpPr>
        <p:spPr>
          <a:xfrm>
            <a:off x="4882896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Merge</a:t>
            </a:r>
            <a:endParaRPr lang="en-US" sz="1800" dirty="0"/>
          </a:p>
        </p:txBody>
      </p:sp>
      <p:sp>
        <p:nvSpPr>
          <p:cNvPr id="17" name="Step text 3"/>
          <p:cNvSpPr txBox="1"/>
          <p:nvPr/>
        </p:nvSpPr>
        <p:spPr>
          <a:xfrm>
            <a:off x="4882896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 IDs joined to names for readable rules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6821424" y="1188720"/>
            <a:ext cx="192024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icon bg 4"/>
          <p:cNvSpPr/>
          <p:nvPr/>
        </p:nvSpPr>
        <p:spPr>
          <a:xfrm>
            <a:off x="7004304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tep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1508760"/>
            <a:ext cx="274320" cy="274320"/>
          </a:xfrm>
          <a:prstGeom prst="rect">
            <a:avLst/>
          </a:prstGeom>
        </p:spPr>
      </p:pic>
      <p:sp>
        <p:nvSpPr>
          <p:cNvPr id="21" name="Step title 4"/>
          <p:cNvSpPr txBox="1"/>
          <p:nvPr/>
        </p:nvSpPr>
        <p:spPr>
          <a:xfrm>
            <a:off x="7004304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Encode</a:t>
            </a:r>
            <a:endParaRPr lang="en-US" sz="1800" dirty="0"/>
          </a:p>
        </p:txBody>
      </p:sp>
      <p:sp>
        <p:nvSpPr>
          <p:cNvPr id="22" name="Step text 4"/>
          <p:cNvSpPr txBox="1"/>
          <p:nvPr/>
        </p:nvSpPr>
        <p:spPr>
          <a:xfrm>
            <a:off x="7004304" y="24231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Boolean sparse basket matrix (SciPy CSR)</a:t>
            </a:r>
            <a:endParaRPr lang="en-US" sz="1400" dirty="0"/>
          </a:p>
        </p:txBody>
      </p:sp>
      <p:sp>
        <p:nvSpPr>
          <p:cNvPr id="23" name="Result strip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Result value"/>
          <p:cNvSpPr txBox="1"/>
          <p:nvPr/>
        </p:nvSpPr>
        <p:spPr>
          <a:xfrm>
            <a:off x="731520" y="36118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72,283 × 200</a:t>
            </a:r>
            <a:endParaRPr lang="en-US" sz="3200" dirty="0"/>
          </a:p>
        </p:txBody>
      </p:sp>
      <p:sp>
        <p:nvSpPr>
          <p:cNvPr id="25" name="Result text"/>
          <p:cNvSpPr txBox="1"/>
          <p:nvPr/>
        </p:nvSpPr>
        <p:spPr>
          <a:xfrm>
            <a:off x="3566160" y="3611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baskets × products. 72,283 of the 100,000 sampled orders contain at least one top-200 product.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Predictive modelling approach</a:t>
            </a:r>
            <a:endParaRPr lang="en-US" sz="3400" dirty="0"/>
          </a:p>
        </p:txBody>
      </p:sp>
      <p:sp>
        <p:nvSpPr>
          <p:cNvPr id="3" name="Approach card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pproach icon bg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pproac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99616"/>
            <a:ext cx="246888" cy="246888"/>
          </a:xfrm>
          <a:prstGeom prst="rect">
            <a:avLst/>
          </a:prstGeom>
        </p:spPr>
      </p:pic>
      <p:sp>
        <p:nvSpPr>
          <p:cNvPr id="6" name="Approach heading"/>
          <p:cNvSpPr txBox="1"/>
          <p:nvPr/>
        </p:nvSpPr>
        <p:spPr>
          <a:xfrm>
            <a:off x="132588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Association rule mining</a:t>
            </a:r>
            <a:endParaRPr lang="en-US" sz="1800" dirty="0"/>
          </a:p>
        </p:txBody>
      </p:sp>
      <p:sp>
        <p:nvSpPr>
          <p:cNvPr id="7" name="Approach bullets"/>
          <p:cNvSpPr txBox="1"/>
          <p:nvPr/>
        </p:nvSpPr>
        <p:spPr>
          <a:xfrm>
            <a:off x="685800" y="205740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Unsupervised: no target label, it finds “X → Y” co-purchase patterns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FP-Growth compresses baskets into an FP-tree, with no repeated candidate generation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Scales better than Apriori on large, sparse data</a:t>
            </a:r>
            <a:endParaRPr lang="en-US" sz="1400" dirty="0"/>
          </a:p>
        </p:txBody>
      </p:sp>
      <p:sp>
        <p:nvSpPr>
          <p:cNvPr id="8" name="Metric card 1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tric text 1"/>
          <p:cNvSpPr txBox="1"/>
          <p:nvPr/>
        </p:nvSpPr>
        <p:spPr>
          <a:xfrm>
            <a:off x="4846320" y="1188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Support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how common the itemset is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baskets with X and Y ÷ all baskets</a:t>
            </a:r>
            <a:endParaRPr lang="en-US" sz="1600" dirty="0"/>
          </a:p>
        </p:txBody>
      </p:sp>
      <p:sp>
        <p:nvSpPr>
          <p:cNvPr id="10" name="Metric card 2"/>
          <p:cNvSpPr/>
          <p:nvPr/>
        </p:nvSpPr>
        <p:spPr>
          <a:xfrm>
            <a:off x="4663440" y="233172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etric text 2"/>
          <p:cNvSpPr txBox="1"/>
          <p:nvPr/>
        </p:nvSpPr>
        <p:spPr>
          <a:xfrm>
            <a:off x="4846320" y="2331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Confidence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how often Y follows X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support(X, Y) ÷ support(X)</a:t>
            </a:r>
            <a:endParaRPr lang="en-US" sz="1600" dirty="0"/>
          </a:p>
        </p:txBody>
      </p:sp>
      <p:sp>
        <p:nvSpPr>
          <p:cNvPr id="12" name="Metric card 3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etric text 3"/>
          <p:cNvSpPr txBox="1"/>
          <p:nvPr/>
        </p:nvSpPr>
        <p:spPr>
          <a:xfrm>
            <a:off x="4846320" y="34747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Lift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 strength beyond chance (keep ≥ 1.5)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confidence ÷ support(Y)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 development</a:t>
            </a:r>
            <a:endParaRPr lang="en-US" sz="3400" dirty="0"/>
          </a:p>
        </p:txBody>
      </p:sp>
      <p:sp>
        <p:nvSpPr>
          <p:cNvPr id="3" name="Dev step bg 1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ev step number 1"/>
          <p:cNvSpPr txBox="1"/>
          <p:nvPr/>
        </p:nvSpPr>
        <p:spPr>
          <a:xfrm>
            <a:off x="45720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Dev step text 1"/>
          <p:cNvSpPr txBox="1"/>
          <p:nvPr/>
        </p:nvSpPr>
        <p:spPr>
          <a:xfrm>
            <a:off x="1097280" y="118872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Factorize order and product IDs into row and column indices</a:t>
            </a:r>
            <a:endParaRPr lang="en-US" sz="1400" dirty="0"/>
          </a:p>
        </p:txBody>
      </p:sp>
      <p:sp>
        <p:nvSpPr>
          <p:cNvPr id="6" name="Dev step bg 2"/>
          <p:cNvSpPr/>
          <p:nvPr/>
        </p:nvSpPr>
        <p:spPr>
          <a:xfrm>
            <a:off x="457200" y="19293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ev step number 2"/>
          <p:cNvSpPr txBox="1"/>
          <p:nvPr/>
        </p:nvSpPr>
        <p:spPr>
          <a:xfrm>
            <a:off x="45720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Dev step text 2"/>
          <p:cNvSpPr txBox="1"/>
          <p:nvPr/>
        </p:nvSpPr>
        <p:spPr>
          <a:xfrm>
            <a:off x="1097280" y="186537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boolean CSR matrix (72,283 × 200) with SciPy</a:t>
            </a:r>
            <a:endParaRPr lang="en-US" sz="1400" dirty="0"/>
          </a:p>
        </p:txBody>
      </p:sp>
      <p:sp>
        <p:nvSpPr>
          <p:cNvPr id="9" name="Dev step bg 3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ev step number 3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Dev step text 3"/>
          <p:cNvSpPr txBox="1"/>
          <p:nvPr/>
        </p:nvSpPr>
        <p:spPr>
          <a:xfrm>
            <a:off x="1097280" y="254203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fpgrowth() from MLxtend with min_support = 0.01</a:t>
            </a:r>
            <a:endParaRPr lang="en-US" sz="1400" dirty="0"/>
          </a:p>
        </p:txBody>
      </p:sp>
      <p:sp>
        <p:nvSpPr>
          <p:cNvPr id="12" name="Dev step bg 4"/>
          <p:cNvSpPr/>
          <p:nvPr/>
        </p:nvSpPr>
        <p:spPr>
          <a:xfrm>
            <a:off x="457200" y="3282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ev step number 4"/>
          <p:cNvSpPr txBox="1"/>
          <p:nvPr/>
        </p:nvSpPr>
        <p:spPr>
          <a:xfrm>
            <a:off x="4572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Dev step text 4"/>
          <p:cNvSpPr txBox="1"/>
          <p:nvPr/>
        </p:nvSpPr>
        <p:spPr>
          <a:xfrm>
            <a:off x="1097280" y="321868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Generate rules with association_rules(), lift ≥ 1.5</a:t>
            </a:r>
            <a:endParaRPr lang="en-US" sz="1400" dirty="0"/>
          </a:p>
        </p:txBody>
      </p:sp>
      <p:sp>
        <p:nvSpPr>
          <p:cNvPr id="15" name="Dev step bg 5"/>
          <p:cNvSpPr/>
          <p:nvPr/>
        </p:nvSpPr>
        <p:spPr>
          <a:xfrm>
            <a:off x="457200" y="39593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ev step number 5"/>
          <p:cNvSpPr txBox="1"/>
          <p:nvPr/>
        </p:nvSpPr>
        <p:spPr>
          <a:xfrm>
            <a:off x="45720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Dev step text 5"/>
          <p:cNvSpPr txBox="1"/>
          <p:nvPr/>
        </p:nvSpPr>
        <p:spPr>
          <a:xfrm>
            <a:off x="1097280" y="389534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Sort by lift, then confidence; export results to CSV</a:t>
            </a:r>
            <a:endParaRPr lang="en-US" sz="1400" dirty="0"/>
          </a:p>
        </p:txBody>
      </p:sp>
      <p:graphicFrame>
        <p:nvGraphicFramePr>
          <p:cNvPr id="8" name="Parame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88720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Sampled orders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100,000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Top products kept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Min support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0.01 (1%)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Min lift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Random seed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42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ools card"/>
          <p:cNvSpPr/>
          <p:nvPr/>
        </p:nvSpPr>
        <p:spPr>
          <a:xfrm>
            <a:off x="5486400" y="34747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ools text"/>
          <p:cNvSpPr txBox="1"/>
          <p:nvPr/>
        </p:nvSpPr>
        <p:spPr>
          <a:xfrm>
            <a:off x="5669280" y="34747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Tools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B2B24"/>
                </a:solidFill>
              </a:rPr>
              <a:t>Python, Pandas, NumPy, SciPy, MLxtend, Matplotlib, Jupyter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Evaluation of the model</a:t>
            </a:r>
            <a:endParaRPr lang="en-US" sz="3400" dirty="0"/>
          </a:p>
        </p:txBody>
      </p:sp>
      <p:sp>
        <p:nvSpPr>
          <p:cNvPr id="3" name="Eval card 1"/>
          <p:cNvSpPr/>
          <p:nvPr/>
        </p:nvSpPr>
        <p:spPr>
          <a:xfrm>
            <a:off x="457200" y="118872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val value 1"/>
          <p:cNvSpPr txBox="1"/>
          <p:nvPr/>
        </p:nvSpPr>
        <p:spPr>
          <a:xfrm>
            <a:off x="640080" y="118872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2800" dirty="0"/>
          </a:p>
        </p:txBody>
      </p:sp>
      <p:sp>
        <p:nvSpPr>
          <p:cNvPr id="5" name="Eval label 1"/>
          <p:cNvSpPr txBox="1"/>
          <p:nvPr/>
        </p:nvSpPr>
        <p:spPr>
          <a:xfrm>
            <a:off x="1874520" y="11887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frequent itemsets at 1% min support</a:t>
            </a:r>
            <a:endParaRPr lang="en-US" sz="1400" dirty="0"/>
          </a:p>
        </p:txBody>
      </p:sp>
      <p:sp>
        <p:nvSpPr>
          <p:cNvPr id="6" name="Eval card 2"/>
          <p:cNvSpPr/>
          <p:nvPr/>
        </p:nvSpPr>
        <p:spPr>
          <a:xfrm>
            <a:off x="457200" y="228600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val value 2"/>
          <p:cNvSpPr txBox="1"/>
          <p:nvPr/>
        </p:nvSpPr>
        <p:spPr>
          <a:xfrm>
            <a:off x="640080" y="22860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8" name="Eval label 2"/>
          <p:cNvSpPr txBox="1"/>
          <p:nvPr/>
        </p:nvSpPr>
        <p:spPr>
          <a:xfrm>
            <a:off x="1874520" y="22860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kept with lift ≥ 1.5</a:t>
            </a:r>
            <a:endParaRPr lang="en-US" sz="1400" dirty="0"/>
          </a:p>
        </p:txBody>
      </p:sp>
      <p:sp>
        <p:nvSpPr>
          <p:cNvPr id="9" name="Eval card 3"/>
          <p:cNvSpPr/>
          <p:nvPr/>
        </p:nvSpPr>
        <p:spPr>
          <a:xfrm>
            <a:off x="457200" y="33832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val value 3"/>
          <p:cNvSpPr txBox="1"/>
          <p:nvPr/>
        </p:nvSpPr>
        <p:spPr>
          <a:xfrm>
            <a:off x="640080" y="33832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3.27×</a:t>
            </a:r>
            <a:endParaRPr lang="en-US" sz="2800" dirty="0"/>
          </a:p>
        </p:txBody>
      </p:sp>
      <p:sp>
        <p:nvSpPr>
          <p:cNvPr id="11" name="Eval label 3"/>
          <p:cNvSpPr txBox="1"/>
          <p:nvPr/>
        </p:nvSpPr>
        <p:spPr>
          <a:xfrm>
            <a:off x="1874520" y="338328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lift (Limes ↔ Large Lemon)</a:t>
            </a:r>
            <a:endParaRPr lang="en-US" sz="1400" dirty="0"/>
          </a:p>
        </p:txBody>
      </p:sp>
      <p:pic>
        <p:nvPicPr>
          <p:cNvPr id="12" name="Support vs confidence scatter" descr="Scatter plot of support versus confidence for the 28 rules, coloured by li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88720"/>
            <a:ext cx="4526280" cy="2937586"/>
          </a:xfrm>
          <a:prstGeom prst="rect">
            <a:avLst/>
          </a:prstGeom>
        </p:spPr>
      </p:pic>
      <p:sp>
        <p:nvSpPr>
          <p:cNvPr id="13" name="Eval caption"/>
          <p:cNvSpPr txBox="1"/>
          <p:nvPr/>
        </p:nvSpPr>
        <p:spPr>
          <a:xfrm>
            <a:off x="4023360" y="4206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Unsupervised model: rules are judged on support, confidence and lift, not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Results: strongest rules</a:t>
            </a:r>
            <a:endParaRPr lang="en-US" sz="3400" dirty="0"/>
          </a:p>
        </p:txBody>
      </p:sp>
      <p:graphicFrame>
        <p:nvGraphicFramePr>
          <p:cNvPr id="10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097280"/>
                <a:gridCol w="12801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 (antecedent → consequent)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Support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Confidence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Lift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Limes → Large Lemon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1.06%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19.6%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3.27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Organic Raspberries → Organic Strawberries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1.27%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23.7%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2.28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Organic Raspberries → Bag of Organic Bananas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1.63%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30.3%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2.01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Organic Fuji Apple → Banana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1.30%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37.2%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1.99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Organic Hass Avocado → Bag of Organic Bananas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2.44%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29.3%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1.94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Honeycrisp Apple → Banana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1.13%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35.5%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1.90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Organic Hass Avocado → Organic Strawberries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1.57%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B24"/>
                          </a:solidFill>
                        </a:rPr>
                        <a:t>18.9%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1.81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Top unique pairs by lift. Every rule also holds in reverse with identical support and lift.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Interpretation and business use</a:t>
            </a:r>
            <a:endParaRPr lang="en-US" sz="34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4114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nding icon bg 1"/>
          <p:cNvSpPr/>
          <p:nvPr/>
        </p:nvSpPr>
        <p:spPr>
          <a:xfrm>
            <a:off x="640080" y="144475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inding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72768"/>
            <a:ext cx="237744" cy="237744"/>
          </a:xfrm>
          <a:prstGeom prst="rect">
            <a:avLst/>
          </a:prstGeom>
        </p:spPr>
      </p:pic>
      <p:sp>
        <p:nvSpPr>
          <p:cNvPr id="6" name="Finding text 1"/>
          <p:cNvSpPr txBox="1"/>
          <p:nvPr/>
        </p:nvSpPr>
        <p:spPr>
          <a:xfrm>
            <a:off x="1325880" y="1188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Natural pairs: citrus (Limes ↔ Large Lemon) and berries (Raspberries ↔ Strawberries)</a:t>
            </a:r>
            <a:endParaRPr lang="en-US" sz="1400" dirty="0"/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4114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nding icon bg 2"/>
          <p:cNvSpPr/>
          <p:nvPr/>
        </p:nvSpPr>
        <p:spPr>
          <a:xfrm>
            <a:off x="640080" y="258775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Finding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715768"/>
            <a:ext cx="237744" cy="237744"/>
          </a:xfrm>
          <a:prstGeom prst="rect">
            <a:avLst/>
          </a:prstGeom>
        </p:spPr>
      </p:pic>
      <p:sp>
        <p:nvSpPr>
          <p:cNvPr id="10" name="Finding text 2"/>
          <p:cNvSpPr txBox="1"/>
          <p:nvPr/>
        </p:nvSpPr>
        <p:spPr>
          <a:xfrm>
            <a:off x="13258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Bananas anchor many rules, but their popularity inflates confidence, so lift is the fairer guide</a:t>
            </a:r>
            <a:endParaRPr lang="en-US" sz="14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4114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inding icon bg 3"/>
          <p:cNvSpPr/>
          <p:nvPr/>
        </p:nvSpPr>
        <p:spPr>
          <a:xfrm>
            <a:off x="640080" y="373075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Finding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858768"/>
            <a:ext cx="237744" cy="237744"/>
          </a:xfrm>
          <a:prstGeom prst="rect">
            <a:avLst/>
          </a:prstGeom>
        </p:spPr>
      </p:pic>
      <p:sp>
        <p:nvSpPr>
          <p:cNvPr id="14" name="Finding text 3"/>
          <p:cNvSpPr txBox="1"/>
          <p:nvPr/>
        </p:nvSpPr>
        <p:spPr>
          <a:xfrm>
            <a:off x="1325880" y="3474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Fresh produce dominates: all top-20 rules link produce items</a:t>
            </a:r>
            <a:endParaRPr lang="en-US" sz="1400" dirty="0"/>
          </a:p>
        </p:txBody>
      </p:sp>
      <p:sp>
        <p:nvSpPr>
          <p:cNvPr id="15" name="Actions card"/>
          <p:cNvSpPr/>
          <p:nvPr/>
        </p:nvSpPr>
        <p:spPr>
          <a:xfrm>
            <a:off x="4846320" y="1188720"/>
            <a:ext cx="384048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ctions heading"/>
          <p:cNvSpPr txBox="1"/>
          <p:nvPr/>
        </p:nvSpPr>
        <p:spPr>
          <a:xfrm>
            <a:off x="507492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Business recommendations</a:t>
            </a:r>
            <a:endParaRPr lang="en-US" sz="1800" dirty="0"/>
          </a:p>
        </p:txBody>
      </p:sp>
      <p:sp>
        <p:nvSpPr>
          <p:cNvPr id="17" name="Actions bullets"/>
          <p:cNvSpPr txBox="1"/>
          <p:nvPr/>
        </p:nvSpPr>
        <p:spPr>
          <a:xfrm>
            <a:off x="5074920" y="1874520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Bundle related produce: berry mixes, citrus packs, avocado with spinach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Place related items together on shelves and in the app layout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Show “frequently bought together” picks at add-to-cart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Target promotions on one item to lift its partner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akeaway bg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akeaway number 1"/>
          <p:cNvSpPr txBox="1"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akeaway text 1"/>
          <p:cNvSpPr txBox="1"/>
          <p:nvPr/>
        </p:nvSpPr>
        <p:spPr>
          <a:xfrm>
            <a:off x="1188720" y="1188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FP-Growth on a sparse 72,283 × 200 basket matrix mined 161 itemsets and 28 rules efficiently</a:t>
            </a:r>
            <a:endParaRPr lang="en-US" sz="1600" dirty="0"/>
          </a:p>
        </p:txBody>
      </p:sp>
      <p:sp>
        <p:nvSpPr>
          <p:cNvPr id="6" name="Takeaway bg 2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akeaway number 2"/>
          <p:cNvSpPr txBox="1"/>
          <p:nvPr/>
        </p:nvSpPr>
        <p:spPr>
          <a:xfrm>
            <a:off x="4572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akeaway text 2"/>
          <p:cNvSpPr txBox="1"/>
          <p:nvPr/>
        </p:nvSpPr>
        <p:spPr>
          <a:xfrm>
            <a:off x="118872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Strongest co-purchases are fresh-produce pairs, with lift up to 3.27</a:t>
            </a:r>
            <a:endParaRPr lang="en-US" sz="1600" dirty="0"/>
          </a:p>
        </p:txBody>
      </p:sp>
      <p:sp>
        <p:nvSpPr>
          <p:cNvPr id="9" name="Takeaway bg 3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akeaway number 3"/>
          <p:cNvSpPr txBox="1"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akeaway text 3"/>
          <p:cNvSpPr txBox="1"/>
          <p:nvPr/>
        </p:nvSpPr>
        <p:spPr>
          <a:xfrm>
            <a:off x="118872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rules convert directly into bundles, layout changes and recommendations</a:t>
            </a:r>
            <a:endParaRPr lang="en-US" sz="1600" dirty="0"/>
          </a:p>
        </p:txBody>
      </p:sp>
      <p:sp>
        <p:nvSpPr>
          <p:cNvPr id="12" name="Next steps card"/>
          <p:cNvSpPr/>
          <p:nvPr/>
        </p:nvSpPr>
        <p:spPr>
          <a:xfrm>
            <a:off x="5120640" y="1188720"/>
            <a:ext cx="35661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ext steps heading"/>
          <p:cNvSpPr txBox="1"/>
          <p:nvPr/>
        </p:nvSpPr>
        <p:spPr>
          <a:xfrm>
            <a:off x="534924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4" name="Next steps bullets"/>
          <p:cNvSpPr txBox="1"/>
          <p:nvPr/>
        </p:nvSpPr>
        <p:spPr>
          <a:xfrm>
            <a:off x="5349240" y="18745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</a:rPr>
              <a:t>Mine more data: 200K orders, top 500 products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</a:rPr>
              <a:t>Lower min support to surface niche pairs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B24"/>
                </a:solidFill>
              </a:rPr>
              <a:t>Validate recommendations with A/B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ket Green">
  <a:themeElements>
    <a:clrScheme name="Basket Green">
      <a:dk1>
        <a:srgbClr val="1B2B24"/>
      </a:dk1>
      <a:lt1>
        <a:srgbClr val="FFFFFF"/>
      </a:lt1>
      <a:dk2>
        <a:srgbClr val="1F5C45"/>
      </a:dk2>
      <a:lt2>
        <a:srgbClr val="EAF4EE"/>
      </a:lt2>
      <a:accent1>
        <a:srgbClr val="1F5C45"/>
      </a:accent1>
      <a:accent2>
        <a:srgbClr val="E8801A"/>
      </a:accent2>
      <a:accent3>
        <a:srgbClr val="6BAF7A"/>
      </a:accent3>
      <a:accent4>
        <a:srgbClr val="C8102E"/>
      </a:accent4>
      <a:accent5>
        <a:srgbClr val="F6C453"/>
      </a:accent5>
      <a:accent6>
        <a:srgbClr val="55776A"/>
      </a:accent6>
      <a:hlink>
        <a:srgbClr val="1F5C45"/>
      </a:hlink>
      <a:folHlink>
        <a:srgbClr val="55776A"/>
      </a:folHlink>
    </a:clrScheme>
    <a:fontScheme name="Basket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Basket Analysis of Instacart Grocery Orders (FP-Growth)</dc:title>
  <dc:subject>PptxGenJS Presentation</dc:subject>
  <dc:creator>Mukund Kuthe</dc:creator>
  <cp:lastModifiedBy>Mukund Kuthe</cp:lastModifiedBy>
  <cp:revision>1</cp:revision>
  <dcterms:created xsi:type="dcterms:W3CDTF">2026-10-24T03:51:26Z</dcterms:created>
  <dcterms:modified xsi:type="dcterms:W3CDTF">2026-10-24T03:51:26Z</dcterms:modified>
</cp:coreProperties>
</file>